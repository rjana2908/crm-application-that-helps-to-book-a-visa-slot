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7.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3" r:id="rId8"/>
    <p:sldId id="266" r:id="rId9"/>
    <p:sldId id="267" r:id="rId10"/>
    <p:sldId id="268" r:id="rId11"/>
    <p:sldId id="265" r:id="rId12"/>
  </p:sldIdLst>
  <p:sldSz cx="7556500" cy="10693400"/>
  <p:notesSz cx="7556500" cy="10693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7" d="100"/>
          <a:sy n="77" d="100"/>
        </p:scale>
        <p:origin x="1584" y="-15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rgbClr val="17365D"/>
                </a:solidFill>
                <a:latin typeface="Cambria"/>
                <a:cs typeface="Cambria"/>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0"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62073" y="886713"/>
            <a:ext cx="3838702" cy="421005"/>
          </a:xfrm>
          <a:prstGeom prst="rect">
            <a:avLst/>
          </a:prstGeom>
        </p:spPr>
        <p:txBody>
          <a:bodyPr wrap="square" lIns="0" tIns="0" rIns="0" bIns="0">
            <a:spAutoFit/>
          </a:bodyPr>
          <a:lstStyle>
            <a:lvl1pPr>
              <a:defRPr sz="2600" b="0" i="0">
                <a:solidFill>
                  <a:srgbClr val="17365D"/>
                </a:solidFill>
                <a:latin typeface="Cambria"/>
                <a:cs typeface="Cambria"/>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4/23/2023</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trailblazer.me/id/jana2908" TargetMode="External"/><Relationship Id="rId7" Type="http://schemas.openxmlformats.org/officeDocument/2006/relationships/hyperlink" Target="https://trailblazer.me/id/velmurugan1202" TargetMode="External"/><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hyperlink" Target="https://trailblazer.me/id/maharajan2002" TargetMode="External"/><Relationship Id="rId5" Type="http://schemas.openxmlformats.org/officeDocument/2006/relationships/hyperlink" Target="https://trailblazer.me/id/sivakumar2309" TargetMode="External"/><Relationship Id="rId4" Type="http://schemas.openxmlformats.org/officeDocument/2006/relationships/hyperlink" Target="https://trailblazer.me/id/mydeen"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546101"/>
            <a:ext cx="4311649" cy="627095"/>
          </a:xfrm>
          <a:prstGeom prst="rect">
            <a:avLst/>
          </a:prstGeom>
        </p:spPr>
        <p:txBody>
          <a:bodyPr vert="horz" wrap="square" lIns="0" tIns="11430" rIns="0" bIns="0" rtlCol="0">
            <a:spAutoFit/>
          </a:bodyPr>
          <a:lstStyle/>
          <a:p>
            <a:pPr marL="345440">
              <a:lnSpc>
                <a:spcPct val="100000"/>
              </a:lnSpc>
              <a:spcBef>
                <a:spcPts val="90"/>
              </a:spcBef>
            </a:pPr>
            <a:r>
              <a:rPr lang="en-US" sz="2000" spc="5" dirty="0">
                <a:effectLst>
                  <a:outerShdw blurRad="38100" dist="38100" dir="2700000" algn="tl">
                    <a:srgbClr val="000000">
                      <a:alpha val="43137"/>
                    </a:srgbClr>
                  </a:outerShdw>
                </a:effectLst>
              </a:rPr>
              <a:t>CRM APPLICATION THAT HELPS TO BOOK A VISA SLOT</a:t>
            </a:r>
            <a:endParaRPr sz="2000" spc="-15" dirty="0">
              <a:effectLst>
                <a:outerShdw blurRad="38100" dist="38100" dir="2700000" algn="tl">
                  <a:srgbClr val="000000">
                    <a:alpha val="43137"/>
                  </a:srgbClr>
                </a:outerShdw>
              </a:effectLst>
            </a:endParaRPr>
          </a:p>
        </p:txBody>
      </p:sp>
      <p:sp>
        <p:nvSpPr>
          <p:cNvPr id="3" name="object 3"/>
          <p:cNvSpPr/>
          <p:nvPr/>
        </p:nvSpPr>
        <p:spPr>
          <a:xfrm>
            <a:off x="896416" y="1350517"/>
            <a:ext cx="5768975" cy="12700"/>
          </a:xfrm>
          <a:custGeom>
            <a:avLst/>
            <a:gdLst/>
            <a:ahLst/>
            <a:cxnLst/>
            <a:rect l="l" t="t" r="r" b="b"/>
            <a:pathLst>
              <a:path w="5768975" h="12700">
                <a:moveTo>
                  <a:pt x="5768975" y="0"/>
                </a:moveTo>
                <a:lnTo>
                  <a:pt x="0" y="0"/>
                </a:lnTo>
                <a:lnTo>
                  <a:pt x="0" y="12192"/>
                </a:lnTo>
                <a:lnTo>
                  <a:pt x="5768975" y="12192"/>
                </a:lnTo>
                <a:lnTo>
                  <a:pt x="5768975" y="0"/>
                </a:lnTo>
                <a:close/>
              </a:path>
            </a:pathLst>
          </a:custGeom>
          <a:solidFill>
            <a:srgbClr val="4F81BC"/>
          </a:solidFill>
        </p:spPr>
        <p:txBody>
          <a:bodyPr wrap="square" lIns="0" tIns="0" rIns="0" bIns="0" rtlCol="0"/>
          <a:lstStyle/>
          <a:p>
            <a:endParaRPr/>
          </a:p>
        </p:txBody>
      </p:sp>
      <p:sp>
        <p:nvSpPr>
          <p:cNvPr id="4" name="object 4"/>
          <p:cNvSpPr txBox="1"/>
          <p:nvPr/>
        </p:nvSpPr>
        <p:spPr>
          <a:xfrm>
            <a:off x="1130604" y="1506449"/>
            <a:ext cx="5338445" cy="2170594"/>
          </a:xfrm>
          <a:prstGeom prst="rect">
            <a:avLst/>
          </a:prstGeom>
        </p:spPr>
        <p:txBody>
          <a:bodyPr vert="horz" wrap="square" lIns="0" tIns="43180" rIns="0" bIns="0" rtlCol="0">
            <a:spAutoFit/>
          </a:bodyPr>
          <a:lstStyle/>
          <a:p>
            <a:pPr marL="241300" indent="-229235">
              <a:lnSpc>
                <a:spcPct val="100000"/>
              </a:lnSpc>
              <a:spcBef>
                <a:spcPts val="340"/>
              </a:spcBef>
              <a:buAutoNum type="arabicPlain"/>
              <a:tabLst>
                <a:tab pos="241300" algn="l"/>
                <a:tab pos="241935" algn="l"/>
              </a:tabLst>
            </a:pPr>
            <a:r>
              <a:rPr sz="1100" b="1" spc="-5" dirty="0">
                <a:latin typeface="Calibri"/>
                <a:cs typeface="Calibri"/>
              </a:rPr>
              <a:t>INTRODUCTION</a:t>
            </a:r>
            <a:endParaRPr sz="1100" dirty="0">
              <a:latin typeface="Calibri"/>
              <a:cs typeface="Calibri"/>
            </a:endParaRPr>
          </a:p>
          <a:p>
            <a:pPr marL="469900" lvl="1" indent="-229235">
              <a:lnSpc>
                <a:spcPct val="100000"/>
              </a:lnSpc>
              <a:spcBef>
                <a:spcPts val="240"/>
              </a:spcBef>
              <a:buAutoNum type="arabicPeriod"/>
              <a:tabLst>
                <a:tab pos="470534" algn="l"/>
              </a:tabLst>
            </a:pPr>
            <a:r>
              <a:rPr sz="1100" dirty="0">
                <a:latin typeface="Calibri"/>
                <a:cs typeface="Calibri"/>
              </a:rPr>
              <a:t>Overview</a:t>
            </a:r>
          </a:p>
          <a:p>
            <a:pPr marL="469900" marR="5080">
              <a:lnSpc>
                <a:spcPct val="116399"/>
              </a:lnSpc>
            </a:pPr>
            <a:r>
              <a:rPr lang="en-US" sz="1100" spc="-5" dirty="0">
                <a:cs typeface="Calibri"/>
              </a:rPr>
              <a:t>A visa slot management project is a system that is used to track and manage the availability of visa slots, which are appointments that are required for certain visa applications. It might be used by a government agency or a visa processing center to schedule and manage appointments with applicants.</a:t>
            </a:r>
            <a:r>
              <a:rPr sz="1100" spc="-5" dirty="0" smtClean="0">
                <a:latin typeface="Calibri"/>
                <a:cs typeface="Calibri"/>
              </a:rPr>
              <a:t>.</a:t>
            </a:r>
            <a:endParaRPr sz="1100" dirty="0" smtClean="0">
              <a:latin typeface="Calibri"/>
              <a:cs typeface="Calibri"/>
            </a:endParaRPr>
          </a:p>
          <a:p>
            <a:pPr marL="469900" lvl="1" indent="-229235">
              <a:lnSpc>
                <a:spcPct val="100000"/>
              </a:lnSpc>
              <a:spcBef>
                <a:spcPts val="235"/>
              </a:spcBef>
              <a:buAutoNum type="arabicPeriod" startAt="2"/>
              <a:tabLst>
                <a:tab pos="470534" algn="l"/>
              </a:tabLst>
            </a:pPr>
            <a:r>
              <a:rPr sz="1100" spc="-5" dirty="0" smtClean="0">
                <a:latin typeface="Calibri"/>
                <a:cs typeface="Calibri"/>
              </a:rPr>
              <a:t>Purpose</a:t>
            </a:r>
            <a:endParaRPr sz="1100" dirty="0" smtClean="0">
              <a:latin typeface="Calibri"/>
              <a:cs typeface="Calibri"/>
            </a:endParaRPr>
          </a:p>
          <a:p>
            <a:pPr marL="469900" marR="423545">
              <a:lnSpc>
                <a:spcPct val="116399"/>
              </a:lnSpc>
              <a:spcBef>
                <a:spcPts val="5"/>
              </a:spcBef>
            </a:pPr>
            <a:r>
              <a:rPr lang="en-US" sz="1100" dirty="0" smtClean="0"/>
              <a:t>Track and manage the availability of visa slots, which are appointments that are required for certain visa applications</a:t>
            </a:r>
            <a:r>
              <a:rPr sz="1100" dirty="0" smtClean="0">
                <a:latin typeface="Calibri"/>
                <a:cs typeface="Calibri"/>
              </a:rPr>
              <a:t>.</a:t>
            </a:r>
          </a:p>
          <a:p>
            <a:pPr marL="241300" indent="-229235">
              <a:lnSpc>
                <a:spcPct val="100000"/>
              </a:lnSpc>
              <a:spcBef>
                <a:spcPts val="240"/>
              </a:spcBef>
              <a:buAutoNum type="arabicPlain" startAt="2"/>
              <a:tabLst>
                <a:tab pos="241300" algn="l"/>
                <a:tab pos="241935" algn="l"/>
              </a:tabLst>
            </a:pPr>
            <a:r>
              <a:rPr sz="1100" b="1" spc="-5" dirty="0" smtClean="0">
                <a:latin typeface="Calibri"/>
                <a:cs typeface="Calibri"/>
              </a:rPr>
              <a:t>Problem</a:t>
            </a:r>
            <a:r>
              <a:rPr sz="1100" b="1" spc="-35" dirty="0" smtClean="0">
                <a:latin typeface="Calibri"/>
                <a:cs typeface="Calibri"/>
              </a:rPr>
              <a:t> </a:t>
            </a:r>
            <a:r>
              <a:rPr sz="1100" b="1" dirty="0" smtClean="0">
                <a:latin typeface="Calibri"/>
                <a:cs typeface="Calibri"/>
              </a:rPr>
              <a:t>Definitions</a:t>
            </a:r>
            <a:r>
              <a:rPr sz="1100" b="1" spc="-30" dirty="0" smtClean="0">
                <a:latin typeface="Calibri"/>
                <a:cs typeface="Calibri"/>
              </a:rPr>
              <a:t> </a:t>
            </a:r>
            <a:r>
              <a:rPr sz="1100" b="1" dirty="0" smtClean="0">
                <a:latin typeface="Calibri"/>
                <a:cs typeface="Calibri"/>
              </a:rPr>
              <a:t>&amp;</a:t>
            </a:r>
            <a:r>
              <a:rPr sz="1100" b="1" spc="-35" dirty="0" smtClean="0">
                <a:latin typeface="Calibri"/>
                <a:cs typeface="Calibri"/>
              </a:rPr>
              <a:t> </a:t>
            </a:r>
            <a:r>
              <a:rPr sz="1100" b="1" dirty="0" smtClean="0">
                <a:latin typeface="Calibri"/>
                <a:cs typeface="Calibri"/>
              </a:rPr>
              <a:t>Design</a:t>
            </a:r>
            <a:r>
              <a:rPr sz="1100" b="1" spc="-15" dirty="0" smtClean="0">
                <a:latin typeface="Calibri"/>
                <a:cs typeface="Calibri"/>
              </a:rPr>
              <a:t> </a:t>
            </a:r>
            <a:r>
              <a:rPr sz="1100" b="1" dirty="0" smtClean="0">
                <a:latin typeface="Calibri"/>
                <a:cs typeface="Calibri"/>
              </a:rPr>
              <a:t>Thinking</a:t>
            </a:r>
            <a:endParaRPr sz="1100" dirty="0" smtClean="0">
              <a:latin typeface="Calibri"/>
              <a:cs typeface="Calibri"/>
            </a:endParaRPr>
          </a:p>
          <a:p>
            <a:pPr marL="469900" lvl="1" indent="-229235">
              <a:lnSpc>
                <a:spcPct val="100000"/>
              </a:lnSpc>
              <a:spcBef>
                <a:spcPts val="215"/>
              </a:spcBef>
              <a:buAutoNum type="arabicPeriod"/>
              <a:tabLst>
                <a:tab pos="470534" algn="l"/>
              </a:tabLst>
            </a:pPr>
            <a:r>
              <a:rPr sz="1100" spc="-5" dirty="0" smtClean="0">
                <a:latin typeface="Calibri"/>
                <a:cs typeface="Calibri"/>
              </a:rPr>
              <a:t>Empathy</a:t>
            </a:r>
            <a:r>
              <a:rPr sz="1100" spc="-45" dirty="0" smtClean="0">
                <a:latin typeface="Calibri"/>
                <a:cs typeface="Calibri"/>
              </a:rPr>
              <a:t> </a:t>
            </a:r>
            <a:r>
              <a:rPr sz="1100" spc="-5" dirty="0">
                <a:latin typeface="Calibri"/>
                <a:cs typeface="Calibri"/>
              </a:rPr>
              <a:t>Map</a:t>
            </a:r>
            <a:endParaRPr sz="1100" dirty="0">
              <a:latin typeface="Calibri"/>
              <a:cs typeface="Calibri"/>
            </a:endParaRPr>
          </a:p>
        </p:txBody>
      </p:sp>
      <p:sp>
        <p:nvSpPr>
          <p:cNvPr id="5" name="object 5"/>
          <p:cNvSpPr txBox="1"/>
          <p:nvPr/>
        </p:nvSpPr>
        <p:spPr>
          <a:xfrm>
            <a:off x="1359535" y="9131045"/>
            <a:ext cx="197929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Calibri"/>
                <a:cs typeface="Calibri"/>
              </a:rPr>
              <a:t>2.2</a:t>
            </a:r>
            <a:r>
              <a:rPr sz="1100" spc="150" dirty="0">
                <a:latin typeface="Calibri"/>
                <a:cs typeface="Calibri"/>
              </a:rPr>
              <a:t> </a:t>
            </a:r>
            <a:r>
              <a:rPr sz="1100" spc="-5" dirty="0">
                <a:latin typeface="Calibri"/>
                <a:cs typeface="Calibri"/>
              </a:rPr>
              <a:t>Ideation</a:t>
            </a:r>
            <a:r>
              <a:rPr sz="1100" spc="-15" dirty="0">
                <a:latin typeface="Calibri"/>
                <a:cs typeface="Calibri"/>
              </a:rPr>
              <a:t> </a:t>
            </a:r>
            <a:r>
              <a:rPr sz="1100" dirty="0">
                <a:latin typeface="Calibri"/>
                <a:cs typeface="Calibri"/>
              </a:rPr>
              <a:t>&amp;</a:t>
            </a:r>
            <a:r>
              <a:rPr sz="1100" spc="-15" dirty="0">
                <a:latin typeface="Calibri"/>
                <a:cs typeface="Calibri"/>
              </a:rPr>
              <a:t> </a:t>
            </a:r>
            <a:r>
              <a:rPr sz="1100" spc="-5" dirty="0">
                <a:latin typeface="Calibri"/>
                <a:cs typeface="Calibri"/>
              </a:rPr>
              <a:t>Brainstorming Map</a:t>
            </a:r>
            <a:endParaRPr sz="1100">
              <a:latin typeface="Calibri"/>
              <a:cs typeface="Calibri"/>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1884" y="3820275"/>
            <a:ext cx="5073650" cy="605112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850" y="261713"/>
            <a:ext cx="6477000" cy="1029104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7250" y="28742"/>
            <a:ext cx="3943350" cy="10424707"/>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30604" y="9533331"/>
            <a:ext cx="617220" cy="193675"/>
          </a:xfrm>
          <a:prstGeom prst="rect">
            <a:avLst/>
          </a:prstGeom>
        </p:spPr>
        <p:txBody>
          <a:bodyPr vert="horz" wrap="square" lIns="0" tIns="12700" rIns="0" bIns="0" rtlCol="0">
            <a:spAutoFit/>
          </a:bodyPr>
          <a:lstStyle/>
          <a:p>
            <a:pPr marL="12700">
              <a:lnSpc>
                <a:spcPct val="100000"/>
              </a:lnSpc>
              <a:spcBef>
                <a:spcPts val="100"/>
              </a:spcBef>
              <a:tabLst>
                <a:tab pos="241300" algn="l"/>
              </a:tabLst>
            </a:pPr>
            <a:r>
              <a:rPr sz="1100" b="1" dirty="0">
                <a:latin typeface="Calibri"/>
                <a:cs typeface="Calibri"/>
              </a:rPr>
              <a:t>3	Re</a:t>
            </a:r>
            <a:r>
              <a:rPr sz="1100" b="1" spc="-10" dirty="0">
                <a:latin typeface="Calibri"/>
                <a:cs typeface="Calibri"/>
              </a:rPr>
              <a:t>s</a:t>
            </a:r>
            <a:r>
              <a:rPr sz="1100" b="1" spc="5" dirty="0">
                <a:latin typeface="Calibri"/>
                <a:cs typeface="Calibri"/>
              </a:rPr>
              <a:t>u</a:t>
            </a:r>
            <a:r>
              <a:rPr sz="1100" b="1" spc="-10" dirty="0">
                <a:latin typeface="Calibri"/>
                <a:cs typeface="Calibri"/>
              </a:rPr>
              <a:t>l</a:t>
            </a:r>
            <a:r>
              <a:rPr sz="1100" b="1" dirty="0">
                <a:latin typeface="Calibri"/>
                <a:cs typeface="Calibri"/>
              </a:rPr>
              <a:t>t</a:t>
            </a:r>
            <a:endParaRPr sz="1100">
              <a:latin typeface="Calibri"/>
              <a:cs typeface="Calibri"/>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450" y="258234"/>
            <a:ext cx="5943600" cy="10046459"/>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50" y="111432"/>
            <a:ext cx="6553199" cy="1023257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49250" y="317500"/>
            <a:ext cx="6705600" cy="594393"/>
          </a:xfrm>
          <a:prstGeom prst="rect">
            <a:avLst/>
          </a:prstGeom>
        </p:spPr>
        <p:txBody>
          <a:bodyPr vert="horz" wrap="square" lIns="0" tIns="40005" rIns="0" bIns="0" rtlCol="0">
            <a:spAutoFit/>
          </a:bodyPr>
          <a:lstStyle/>
          <a:p>
            <a:pPr marL="12700">
              <a:lnSpc>
                <a:spcPct val="100000"/>
              </a:lnSpc>
              <a:spcBef>
                <a:spcPts val="315"/>
              </a:spcBef>
              <a:tabLst>
                <a:tab pos="241300" algn="l"/>
              </a:tabLst>
            </a:pPr>
            <a:r>
              <a:rPr lang="en-US" sz="1200" dirty="0">
                <a:cs typeface="Calibri"/>
              </a:rPr>
              <a:t>A CRM gathers customer interactions across all channels in one place. Managing centralized data helps businesses improve customer experience, satisfaction, retention and service.CRM allows businesses of all sizes to drive growth and profits.</a:t>
            </a:r>
            <a:endParaRPr sz="1200" dirty="0">
              <a:latin typeface="Calibri"/>
              <a:cs typeface="Calibri"/>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07" y="1536700"/>
            <a:ext cx="7477993" cy="770084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895856"/>
            <a:ext cx="5924246" cy="1013098"/>
          </a:xfrm>
          <a:prstGeom prst="rect">
            <a:avLst/>
          </a:prstGeom>
        </p:spPr>
        <p:txBody>
          <a:bodyPr vert="horz" wrap="square" lIns="0" tIns="12700" rIns="0" bIns="0" rtlCol="0">
            <a:spAutoFit/>
          </a:bodyPr>
          <a:lstStyle/>
          <a:p>
            <a:pPr marL="12700">
              <a:lnSpc>
                <a:spcPct val="100000"/>
              </a:lnSpc>
              <a:spcBef>
                <a:spcPts val="100"/>
              </a:spcBef>
            </a:pPr>
            <a:r>
              <a:rPr lang="en-US" sz="1300" dirty="0">
                <a:cs typeface="Calibri"/>
              </a:rPr>
              <a:t>Analytical CRM tools make your data available, intelligible, and relevant to your business needs. All your heaps of sales data, finance data, and marketing data flow into CRM to become visible metrics, with data warehousing and data mining there to make sense of everything. The net benefit is customer acquisition, customer retention, and better data management.</a:t>
            </a:r>
            <a:endParaRPr sz="1300" dirty="0">
              <a:latin typeface="Calibri"/>
              <a:cs typeface="Calibri"/>
            </a:endParaRPr>
          </a:p>
        </p:txBody>
      </p:sp>
      <p:sp>
        <p:nvSpPr>
          <p:cNvPr id="3" name="object 3"/>
          <p:cNvSpPr txBox="1"/>
          <p:nvPr/>
        </p:nvSpPr>
        <p:spPr>
          <a:xfrm>
            <a:off x="1353438" y="6488023"/>
            <a:ext cx="2051685" cy="415925"/>
          </a:xfrm>
          <a:prstGeom prst="rect">
            <a:avLst/>
          </a:prstGeom>
        </p:spPr>
        <p:txBody>
          <a:bodyPr vert="horz" wrap="square" lIns="0" tIns="40005" rIns="0" bIns="0" rtlCol="0">
            <a:spAutoFit/>
          </a:bodyPr>
          <a:lstStyle/>
          <a:p>
            <a:pPr marL="241300" indent="-228600">
              <a:lnSpc>
                <a:spcPct val="100000"/>
              </a:lnSpc>
              <a:spcBef>
                <a:spcPts val="315"/>
              </a:spcBef>
              <a:buFont typeface="Wingdings"/>
              <a:buChar char=""/>
              <a:tabLst>
                <a:tab pos="241300" algn="l"/>
              </a:tabLst>
            </a:pPr>
            <a:r>
              <a:rPr sz="1100" spc="-5" dirty="0">
                <a:latin typeface="Calibri"/>
                <a:cs typeface="Calibri"/>
              </a:rPr>
              <a:t>Start</a:t>
            </a:r>
            <a:r>
              <a:rPr sz="1100" spc="-30" dirty="0">
                <a:latin typeface="Calibri"/>
                <a:cs typeface="Calibri"/>
              </a:rPr>
              <a:t> </a:t>
            </a:r>
            <a:r>
              <a:rPr sz="1100" spc="-5" dirty="0">
                <a:latin typeface="Calibri"/>
                <a:cs typeface="Calibri"/>
              </a:rPr>
              <a:t>repot </a:t>
            </a:r>
            <a:r>
              <a:rPr sz="1100" dirty="0">
                <a:latin typeface="Calibri"/>
                <a:cs typeface="Calibri"/>
              </a:rPr>
              <a:t>and</a:t>
            </a:r>
            <a:r>
              <a:rPr sz="1100" spc="-20" dirty="0">
                <a:latin typeface="Calibri"/>
                <a:cs typeface="Calibri"/>
              </a:rPr>
              <a:t> </a:t>
            </a:r>
            <a:r>
              <a:rPr sz="1100" spc="-5" dirty="0">
                <a:latin typeface="Calibri"/>
                <a:cs typeface="Calibri"/>
              </a:rPr>
              <a:t>enter</a:t>
            </a:r>
            <a:r>
              <a:rPr sz="1100" spc="10" dirty="0">
                <a:latin typeface="Calibri"/>
                <a:cs typeface="Calibri"/>
              </a:rPr>
              <a:t> </a:t>
            </a:r>
            <a:r>
              <a:rPr sz="1100" spc="-5" dirty="0">
                <a:latin typeface="Calibri"/>
                <a:cs typeface="Calibri"/>
              </a:rPr>
              <a:t>the</a:t>
            </a:r>
            <a:r>
              <a:rPr sz="1100" spc="-15" dirty="0">
                <a:latin typeface="Calibri"/>
                <a:cs typeface="Calibri"/>
              </a:rPr>
              <a:t> </a:t>
            </a:r>
            <a:r>
              <a:rPr sz="1100" dirty="0">
                <a:latin typeface="Calibri"/>
                <a:cs typeface="Calibri"/>
              </a:rPr>
              <a:t>datas.</a:t>
            </a:r>
            <a:endParaRPr sz="1100">
              <a:latin typeface="Calibri"/>
              <a:cs typeface="Calibri"/>
            </a:endParaRPr>
          </a:p>
          <a:p>
            <a:pPr marL="241300" indent="-228600">
              <a:lnSpc>
                <a:spcPct val="100000"/>
              </a:lnSpc>
              <a:spcBef>
                <a:spcPts val="215"/>
              </a:spcBef>
              <a:buFont typeface="Wingdings"/>
              <a:buChar char=""/>
              <a:tabLst>
                <a:tab pos="241300" algn="l"/>
              </a:tabLst>
            </a:pPr>
            <a:r>
              <a:rPr sz="1100" spc="-5" dirty="0">
                <a:latin typeface="Calibri"/>
                <a:cs typeface="Calibri"/>
              </a:rPr>
              <a:t>Then</a:t>
            </a:r>
            <a:r>
              <a:rPr sz="1100" spc="-25" dirty="0">
                <a:latin typeface="Calibri"/>
                <a:cs typeface="Calibri"/>
              </a:rPr>
              <a:t> </a:t>
            </a:r>
            <a:r>
              <a:rPr sz="1100" spc="-5" dirty="0">
                <a:latin typeface="Calibri"/>
                <a:cs typeface="Calibri"/>
              </a:rPr>
              <a:t>save</a:t>
            </a:r>
            <a:r>
              <a:rPr sz="1100" spc="-25" dirty="0">
                <a:latin typeface="Calibri"/>
                <a:cs typeface="Calibri"/>
              </a:rPr>
              <a:t> </a:t>
            </a:r>
            <a:r>
              <a:rPr sz="1100" dirty="0">
                <a:latin typeface="Calibri"/>
                <a:cs typeface="Calibri"/>
              </a:rPr>
              <a:t>and</a:t>
            </a:r>
            <a:r>
              <a:rPr sz="1100" spc="-25" dirty="0">
                <a:latin typeface="Calibri"/>
                <a:cs typeface="Calibri"/>
              </a:rPr>
              <a:t> </a:t>
            </a:r>
            <a:r>
              <a:rPr sz="1100" spc="-5" dirty="0">
                <a:latin typeface="Calibri"/>
                <a:cs typeface="Calibri"/>
              </a:rPr>
              <a:t>run.</a:t>
            </a:r>
            <a:endParaRPr sz="1100">
              <a:latin typeface="Calibri"/>
              <a:cs typeface="Calibri"/>
            </a:endParaRPr>
          </a:p>
        </p:txBody>
      </p:sp>
      <p:pic>
        <p:nvPicPr>
          <p:cNvPr id="4" name="object 4"/>
          <p:cNvPicPr/>
          <p:nvPr/>
        </p:nvPicPr>
        <p:blipFill>
          <a:blip r:embed="rId2" cstate="print"/>
          <a:stretch>
            <a:fillRect/>
          </a:stretch>
        </p:blipFill>
        <p:spPr>
          <a:xfrm>
            <a:off x="914400" y="2148966"/>
            <a:ext cx="5731002" cy="422529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450" y="229073"/>
            <a:ext cx="5714999" cy="9841589"/>
          </a:xfrm>
          <a:prstGeom prst="rect">
            <a:avLst/>
          </a:prstGeom>
        </p:spPr>
      </p:pic>
    </p:spTree>
    <p:extLst>
      <p:ext uri="{BB962C8B-B14F-4D97-AF65-F5344CB8AC3E}">
        <p14:creationId xmlns:p14="http://schemas.microsoft.com/office/powerpoint/2010/main" val="24368880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783" y="469900"/>
            <a:ext cx="6777474" cy="9829800"/>
          </a:xfrm>
          <a:prstGeom prst="rect">
            <a:avLst/>
          </a:prstGeom>
        </p:spPr>
      </p:pic>
    </p:spTree>
    <p:extLst>
      <p:ext uri="{BB962C8B-B14F-4D97-AF65-F5344CB8AC3E}">
        <p14:creationId xmlns:p14="http://schemas.microsoft.com/office/powerpoint/2010/main" val="18023787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4003" y="0"/>
            <a:ext cx="3292497" cy="7848600"/>
          </a:xfrm>
          <a:prstGeom prst="rect">
            <a:avLst/>
          </a:prstGeom>
        </p:spPr>
      </p:pic>
    </p:spTree>
    <p:extLst>
      <p:ext uri="{BB962C8B-B14F-4D97-AF65-F5344CB8AC3E}">
        <p14:creationId xmlns:p14="http://schemas.microsoft.com/office/powerpoint/2010/main" val="9337360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2270" y="3338956"/>
            <a:ext cx="115569" cy="108457"/>
          </a:xfrm>
          <a:prstGeom prst="rect">
            <a:avLst/>
          </a:prstGeom>
        </p:spPr>
      </p:pic>
      <p:pic>
        <p:nvPicPr>
          <p:cNvPr id="3" name="object 3"/>
          <p:cNvPicPr/>
          <p:nvPr/>
        </p:nvPicPr>
        <p:blipFill>
          <a:blip r:embed="rId2" cstate="print"/>
          <a:stretch>
            <a:fillRect/>
          </a:stretch>
        </p:blipFill>
        <p:spPr>
          <a:xfrm>
            <a:off x="1652270" y="3732614"/>
            <a:ext cx="115569" cy="107865"/>
          </a:xfrm>
          <a:prstGeom prst="rect">
            <a:avLst/>
          </a:prstGeom>
        </p:spPr>
      </p:pic>
      <p:pic>
        <p:nvPicPr>
          <p:cNvPr id="4" name="object 4"/>
          <p:cNvPicPr/>
          <p:nvPr/>
        </p:nvPicPr>
        <p:blipFill>
          <a:blip r:embed="rId2" cstate="print"/>
          <a:stretch>
            <a:fillRect/>
          </a:stretch>
        </p:blipFill>
        <p:spPr>
          <a:xfrm>
            <a:off x="1652270" y="4125679"/>
            <a:ext cx="115569" cy="107865"/>
          </a:xfrm>
          <a:prstGeom prst="rect">
            <a:avLst/>
          </a:prstGeom>
        </p:spPr>
      </p:pic>
      <p:pic>
        <p:nvPicPr>
          <p:cNvPr id="5" name="object 5"/>
          <p:cNvPicPr/>
          <p:nvPr/>
        </p:nvPicPr>
        <p:blipFill>
          <a:blip r:embed="rId2" cstate="print"/>
          <a:stretch>
            <a:fillRect/>
          </a:stretch>
        </p:blipFill>
        <p:spPr>
          <a:xfrm>
            <a:off x="1652270" y="4320624"/>
            <a:ext cx="115569" cy="107865"/>
          </a:xfrm>
          <a:prstGeom prst="rect">
            <a:avLst/>
          </a:prstGeom>
        </p:spPr>
      </p:pic>
      <p:sp>
        <p:nvSpPr>
          <p:cNvPr id="6" name="object 6"/>
          <p:cNvSpPr txBox="1"/>
          <p:nvPr/>
        </p:nvSpPr>
        <p:spPr>
          <a:xfrm>
            <a:off x="902004" y="895857"/>
            <a:ext cx="5642610" cy="8557471"/>
          </a:xfrm>
          <a:prstGeom prst="rect">
            <a:avLst/>
          </a:prstGeom>
        </p:spPr>
        <p:txBody>
          <a:bodyPr vert="horz" wrap="square" lIns="0" tIns="12700" rIns="0" bIns="0" rtlCol="0">
            <a:spAutoFit/>
          </a:bodyPr>
          <a:lstStyle/>
          <a:p>
            <a:pPr marL="12700">
              <a:lnSpc>
                <a:spcPct val="100000"/>
              </a:lnSpc>
              <a:spcBef>
                <a:spcPts val="100"/>
              </a:spcBef>
            </a:pPr>
            <a:r>
              <a:rPr lang="en-US" sz="1100" b="1" dirty="0" smtClean="0">
                <a:latin typeface="Calibri"/>
                <a:cs typeface="Calibri"/>
              </a:rPr>
              <a:t>Traihead Profile Public URL</a:t>
            </a:r>
          </a:p>
          <a:p>
            <a:pPr marL="12700">
              <a:lnSpc>
                <a:spcPct val="100000"/>
              </a:lnSpc>
              <a:spcBef>
                <a:spcPts val="100"/>
              </a:spcBef>
            </a:pPr>
            <a:endParaRPr lang="en-US" sz="1100" b="1" dirty="0" smtClean="0">
              <a:latin typeface="Calibri"/>
              <a:cs typeface="Calibri"/>
            </a:endParaRPr>
          </a:p>
          <a:p>
            <a:pPr marL="12700">
              <a:lnSpc>
                <a:spcPct val="100000"/>
              </a:lnSpc>
              <a:spcBef>
                <a:spcPts val="100"/>
              </a:spcBef>
            </a:pPr>
            <a:r>
              <a:rPr lang="en-US" sz="1100" b="1" dirty="0">
                <a:latin typeface="Calibri"/>
                <a:cs typeface="Calibri"/>
              </a:rPr>
              <a:t> </a:t>
            </a:r>
            <a:r>
              <a:rPr lang="en-US" sz="1100" b="1" dirty="0">
                <a:cs typeface="Calibri"/>
              </a:rPr>
              <a:t>                          </a:t>
            </a:r>
            <a:endParaRPr lang="en-US" sz="1100" b="1" dirty="0" smtClean="0">
              <a:cs typeface="Calibri"/>
            </a:endParaRPr>
          </a:p>
          <a:p>
            <a:pPr marL="12700">
              <a:lnSpc>
                <a:spcPct val="100000"/>
              </a:lnSpc>
              <a:spcBef>
                <a:spcPts val="100"/>
              </a:spcBef>
            </a:pPr>
            <a:r>
              <a:rPr lang="en-US" sz="1100" b="1" dirty="0" smtClean="0">
                <a:cs typeface="Calibri"/>
              </a:rPr>
              <a:t>                            Team </a:t>
            </a:r>
            <a:r>
              <a:rPr lang="en-US" sz="1100" b="1" dirty="0">
                <a:cs typeface="Calibri"/>
              </a:rPr>
              <a:t>Lead           : </a:t>
            </a:r>
            <a:r>
              <a:rPr lang="en-US" sz="1100" b="1" dirty="0">
                <a:cs typeface="Calibri"/>
                <a:hlinkClick r:id="rId3"/>
              </a:rPr>
              <a:t>https://</a:t>
            </a:r>
            <a:r>
              <a:rPr lang="en-US" sz="1100" b="1" dirty="0" smtClean="0">
                <a:cs typeface="Calibri"/>
                <a:hlinkClick r:id="rId3"/>
              </a:rPr>
              <a:t>trailblazer.me/id/jana2908</a:t>
            </a:r>
            <a:endParaRPr lang="en-US" sz="1100" b="1" dirty="0" smtClean="0">
              <a:latin typeface="Calibri"/>
              <a:cs typeface="Calibri"/>
            </a:endParaRPr>
          </a:p>
          <a:p>
            <a:pPr marL="12700">
              <a:lnSpc>
                <a:spcPct val="100000"/>
              </a:lnSpc>
              <a:spcBef>
                <a:spcPts val="100"/>
              </a:spcBef>
            </a:pPr>
            <a:r>
              <a:rPr lang="en-US" sz="1100" b="1" dirty="0">
                <a:latin typeface="Calibri"/>
                <a:cs typeface="Calibri"/>
              </a:rPr>
              <a:t> </a:t>
            </a:r>
            <a:r>
              <a:rPr lang="en-US" sz="1100" b="1" dirty="0" smtClean="0">
                <a:latin typeface="Calibri"/>
                <a:cs typeface="Calibri"/>
              </a:rPr>
              <a:t>                           </a:t>
            </a:r>
            <a:r>
              <a:rPr lang="en-US" sz="1100" b="1" dirty="0">
                <a:cs typeface="Calibri"/>
              </a:rPr>
              <a:t>Team Member 1 : </a:t>
            </a:r>
            <a:r>
              <a:rPr lang="en-US" sz="1100" b="1" dirty="0">
                <a:cs typeface="Calibri"/>
                <a:hlinkClick r:id="rId4"/>
              </a:rPr>
              <a:t>https://</a:t>
            </a:r>
            <a:r>
              <a:rPr lang="en-US" sz="1100" b="1" dirty="0" smtClean="0">
                <a:cs typeface="Calibri"/>
                <a:hlinkClick r:id="rId4"/>
              </a:rPr>
              <a:t>trailblazer.me/id/mydeen</a:t>
            </a:r>
            <a:endParaRPr lang="en-US" sz="1100" b="1" dirty="0" smtClean="0">
              <a:cs typeface="Calibri"/>
            </a:endParaRPr>
          </a:p>
          <a:p>
            <a:pPr marL="12700">
              <a:lnSpc>
                <a:spcPct val="100000"/>
              </a:lnSpc>
              <a:spcBef>
                <a:spcPts val="100"/>
              </a:spcBef>
            </a:pPr>
            <a:r>
              <a:rPr lang="en-US" sz="1100" b="1" dirty="0">
                <a:latin typeface="Calibri"/>
                <a:cs typeface="Calibri"/>
              </a:rPr>
              <a:t> </a:t>
            </a:r>
            <a:r>
              <a:rPr lang="en-US" sz="1100" b="1" dirty="0">
                <a:cs typeface="Calibri"/>
              </a:rPr>
              <a:t>                           Team Member 2 : </a:t>
            </a:r>
            <a:r>
              <a:rPr lang="en-US" sz="1100" b="1" dirty="0">
                <a:cs typeface="Calibri"/>
                <a:hlinkClick r:id="rId5"/>
              </a:rPr>
              <a:t>https://</a:t>
            </a:r>
            <a:r>
              <a:rPr lang="en-US" sz="1100" b="1" dirty="0" smtClean="0">
                <a:cs typeface="Calibri"/>
                <a:hlinkClick r:id="rId5"/>
              </a:rPr>
              <a:t>trailblazer.me/id/sivakumar2309</a:t>
            </a:r>
            <a:endParaRPr lang="en-US" sz="1100" b="1" dirty="0" smtClean="0">
              <a:cs typeface="Calibri"/>
            </a:endParaRPr>
          </a:p>
          <a:p>
            <a:pPr marL="12700">
              <a:lnSpc>
                <a:spcPct val="100000"/>
              </a:lnSpc>
              <a:spcBef>
                <a:spcPts val="100"/>
              </a:spcBef>
            </a:pPr>
            <a:r>
              <a:rPr lang="en-US" sz="1100" b="1" dirty="0">
                <a:latin typeface="Calibri"/>
                <a:cs typeface="Calibri"/>
              </a:rPr>
              <a:t> </a:t>
            </a:r>
            <a:r>
              <a:rPr lang="en-US" sz="1100" b="1" dirty="0">
                <a:cs typeface="Calibri"/>
              </a:rPr>
              <a:t>                           Team Member 3 : </a:t>
            </a:r>
            <a:r>
              <a:rPr lang="en-US" sz="1100" b="1" dirty="0">
                <a:cs typeface="Calibri"/>
                <a:hlinkClick r:id="rId6"/>
              </a:rPr>
              <a:t>https://</a:t>
            </a:r>
            <a:r>
              <a:rPr lang="en-US" sz="1100" b="1" dirty="0" smtClean="0">
                <a:cs typeface="Calibri"/>
                <a:hlinkClick r:id="rId6"/>
              </a:rPr>
              <a:t>trailblazer.me/id/maharajan2002</a:t>
            </a:r>
            <a:endParaRPr lang="en-US" sz="1100" b="1" dirty="0" smtClean="0">
              <a:cs typeface="Calibri"/>
            </a:endParaRPr>
          </a:p>
          <a:p>
            <a:pPr marL="12700">
              <a:lnSpc>
                <a:spcPct val="100000"/>
              </a:lnSpc>
              <a:spcBef>
                <a:spcPts val="100"/>
              </a:spcBef>
            </a:pPr>
            <a:r>
              <a:rPr lang="en-US" sz="1100" b="1" dirty="0" smtClean="0">
                <a:latin typeface="Calibri"/>
                <a:cs typeface="Calibri"/>
              </a:rPr>
              <a:t>                            </a:t>
            </a:r>
            <a:r>
              <a:rPr lang="en-US" sz="1100" b="1" dirty="0" smtClean="0">
                <a:cs typeface="Calibri"/>
              </a:rPr>
              <a:t>Team </a:t>
            </a:r>
            <a:r>
              <a:rPr lang="en-US" sz="1100" b="1" dirty="0">
                <a:cs typeface="Calibri"/>
              </a:rPr>
              <a:t>Member 4 : </a:t>
            </a:r>
            <a:r>
              <a:rPr lang="en-US" sz="1100" b="1" dirty="0">
                <a:cs typeface="Calibri"/>
                <a:hlinkClick r:id="rId7"/>
              </a:rPr>
              <a:t>https://</a:t>
            </a:r>
            <a:r>
              <a:rPr lang="en-US" sz="1100" b="1" dirty="0" smtClean="0">
                <a:cs typeface="Calibri"/>
                <a:hlinkClick r:id="rId7"/>
              </a:rPr>
              <a:t>trailblazer.me/id/velmurugan1202</a:t>
            </a:r>
            <a:endParaRPr lang="en-US" sz="1100" b="1" dirty="0" smtClean="0">
              <a:cs typeface="Calibri"/>
            </a:endParaRPr>
          </a:p>
          <a:p>
            <a:pPr marL="12700">
              <a:lnSpc>
                <a:spcPct val="100000"/>
              </a:lnSpc>
              <a:spcBef>
                <a:spcPts val="100"/>
              </a:spcBef>
            </a:pPr>
            <a:endParaRPr lang="en-US" sz="1100" b="1" dirty="0">
              <a:latin typeface="Calibri"/>
              <a:cs typeface="Calibri"/>
            </a:endParaRPr>
          </a:p>
          <a:p>
            <a:pPr marL="12700">
              <a:lnSpc>
                <a:spcPct val="100000"/>
              </a:lnSpc>
              <a:spcBef>
                <a:spcPts val="100"/>
              </a:spcBef>
            </a:pPr>
            <a:endParaRPr lang="en-US" sz="1100" b="1" dirty="0" smtClean="0">
              <a:latin typeface="Calibri"/>
              <a:cs typeface="Calibri"/>
            </a:endParaRPr>
          </a:p>
          <a:p>
            <a:pPr marL="12700">
              <a:lnSpc>
                <a:spcPct val="100000"/>
              </a:lnSpc>
              <a:spcBef>
                <a:spcPts val="100"/>
              </a:spcBef>
            </a:pPr>
            <a:endParaRPr lang="en-US" sz="1100" b="1" dirty="0">
              <a:latin typeface="Calibri"/>
              <a:cs typeface="Calibri"/>
            </a:endParaRPr>
          </a:p>
          <a:p>
            <a:pPr marL="12700">
              <a:lnSpc>
                <a:spcPct val="100000"/>
              </a:lnSpc>
              <a:spcBef>
                <a:spcPts val="100"/>
              </a:spcBef>
            </a:pPr>
            <a:r>
              <a:rPr lang="en-US" sz="1100" b="1" dirty="0" smtClean="0">
                <a:latin typeface="Calibri"/>
                <a:cs typeface="Calibri"/>
              </a:rPr>
              <a:t>Advantages</a:t>
            </a:r>
            <a:endParaRPr lang="en-US" sz="1100" dirty="0">
              <a:cs typeface="Calibri"/>
            </a:endParaRPr>
          </a:p>
          <a:p>
            <a:pPr>
              <a:lnSpc>
                <a:spcPct val="100000"/>
              </a:lnSpc>
              <a:spcBef>
                <a:spcPts val="35"/>
              </a:spcBef>
            </a:pPr>
            <a:endParaRPr lang="en-US" sz="800" dirty="0">
              <a:cs typeface="Calibri"/>
            </a:endParaRPr>
          </a:p>
          <a:p>
            <a:pPr marL="979169" marR="173355" indent="-228600">
              <a:lnSpc>
                <a:spcPct val="116399"/>
              </a:lnSpc>
              <a:buFont typeface="Wingdings"/>
              <a:buChar char=""/>
              <a:tabLst>
                <a:tab pos="979805" algn="l"/>
              </a:tabLst>
            </a:pPr>
            <a:r>
              <a:rPr lang="en-US" sz="1100" dirty="0" smtClean="0">
                <a:cs typeface="Calibri"/>
              </a:rPr>
              <a:t>Agents collect user credentials to book a visa slot.</a:t>
            </a:r>
          </a:p>
          <a:p>
            <a:pPr marL="979169" marR="173355" indent="-228600">
              <a:lnSpc>
                <a:spcPct val="116399"/>
              </a:lnSpc>
              <a:buFont typeface="Wingdings"/>
              <a:buChar char=""/>
              <a:tabLst>
                <a:tab pos="979805" algn="l"/>
              </a:tabLst>
            </a:pPr>
            <a:r>
              <a:rPr lang="en-US" sz="1100" b="1" dirty="0">
                <a:cs typeface="Calibri"/>
              </a:rPr>
              <a:t>As agents have access to multiple login accounts, they can log in multiple times using multiple user </a:t>
            </a:r>
            <a:r>
              <a:rPr lang="en-US" sz="1100" b="1" dirty="0" smtClean="0">
                <a:cs typeface="Calibri"/>
              </a:rPr>
              <a:t>accounts</a:t>
            </a:r>
          </a:p>
          <a:p>
            <a:pPr marL="979169" marR="173355" indent="-228600">
              <a:lnSpc>
                <a:spcPct val="116399"/>
              </a:lnSpc>
              <a:buFont typeface="Wingdings"/>
              <a:buChar char=""/>
              <a:tabLst>
                <a:tab pos="979805" algn="l"/>
              </a:tabLst>
            </a:pPr>
            <a:r>
              <a:rPr lang="en-US" sz="1100" b="1" dirty="0">
                <a:cs typeface="Calibri"/>
              </a:rPr>
              <a:t>As soon as the visa slots are available, they book them and book for their other clients</a:t>
            </a:r>
            <a:r>
              <a:rPr lang="en-US" sz="1100" b="1" dirty="0" smtClean="0">
                <a:cs typeface="Calibri"/>
              </a:rPr>
              <a:t>.</a:t>
            </a:r>
          </a:p>
          <a:p>
            <a:pPr marL="12700">
              <a:lnSpc>
                <a:spcPct val="100000"/>
              </a:lnSpc>
              <a:spcBef>
                <a:spcPts val="100"/>
              </a:spcBef>
            </a:pPr>
            <a:r>
              <a:rPr lang="en-US" sz="1100" b="1" dirty="0" smtClean="0">
                <a:cs typeface="Calibri"/>
              </a:rPr>
              <a:t>Disadvantage</a:t>
            </a:r>
            <a:endParaRPr lang="en-US" sz="1100" dirty="0">
              <a:cs typeface="Calibri"/>
            </a:endParaRPr>
          </a:p>
          <a:p>
            <a:pPr>
              <a:lnSpc>
                <a:spcPct val="100000"/>
              </a:lnSpc>
              <a:spcBef>
                <a:spcPts val="35"/>
              </a:spcBef>
            </a:pPr>
            <a:endParaRPr lang="en-US" sz="800" dirty="0">
              <a:cs typeface="Calibri"/>
            </a:endParaRPr>
          </a:p>
          <a:p>
            <a:pPr marL="979169" marR="173355" indent="-228600">
              <a:lnSpc>
                <a:spcPct val="116399"/>
              </a:lnSpc>
              <a:buFont typeface="Wingdings"/>
              <a:buChar char=""/>
              <a:tabLst>
                <a:tab pos="979805" algn="l"/>
              </a:tabLst>
            </a:pPr>
            <a:r>
              <a:rPr lang="en-US" sz="1100" dirty="0" smtClean="0">
                <a:cs typeface="Calibri"/>
              </a:rPr>
              <a:t>Several Indian students trying to book appointments for US visas took to Twitter on Monday to complain that the website had locked them out for up to 72 hours after they refreshed its appointments page, and that the site had crashed after being unable to handle the load.</a:t>
            </a:r>
            <a:endParaRPr lang="en-US" sz="1100" b="1" dirty="0" smtClean="0">
              <a:latin typeface="Calibri"/>
              <a:cs typeface="Calibri"/>
            </a:endParaRPr>
          </a:p>
          <a:p>
            <a:pPr marL="12700">
              <a:lnSpc>
                <a:spcPct val="100000"/>
              </a:lnSpc>
              <a:spcBef>
                <a:spcPts val="100"/>
              </a:spcBef>
            </a:pPr>
            <a:endParaRPr lang="en-US" sz="1100" b="1" dirty="0">
              <a:latin typeface="Calibri"/>
              <a:cs typeface="Calibri"/>
            </a:endParaRPr>
          </a:p>
          <a:p>
            <a:pPr marL="12700">
              <a:lnSpc>
                <a:spcPct val="100000"/>
              </a:lnSpc>
              <a:spcBef>
                <a:spcPts val="100"/>
              </a:spcBef>
            </a:pPr>
            <a:r>
              <a:rPr sz="1100" b="1" dirty="0" smtClean="0">
                <a:latin typeface="Calibri"/>
                <a:cs typeface="Calibri"/>
              </a:rPr>
              <a:t>Applications</a:t>
            </a:r>
            <a:endParaRPr sz="1100" dirty="0">
              <a:latin typeface="Calibri"/>
              <a:cs typeface="Calibri"/>
            </a:endParaRPr>
          </a:p>
          <a:p>
            <a:pPr>
              <a:lnSpc>
                <a:spcPct val="100000"/>
              </a:lnSpc>
              <a:spcBef>
                <a:spcPts val="35"/>
              </a:spcBef>
            </a:pPr>
            <a:endParaRPr sz="800" dirty="0">
              <a:latin typeface="Calibri"/>
              <a:cs typeface="Calibri"/>
            </a:endParaRPr>
          </a:p>
          <a:p>
            <a:pPr marL="979169" marR="173355" indent="-228600">
              <a:lnSpc>
                <a:spcPct val="116399"/>
              </a:lnSpc>
              <a:buFont typeface="Wingdings"/>
              <a:buChar char=""/>
              <a:tabLst>
                <a:tab pos="979805" algn="l"/>
              </a:tabLst>
            </a:pPr>
            <a:r>
              <a:rPr lang="en-US" sz="1100" dirty="0">
                <a:cs typeface="Calibri"/>
              </a:rPr>
              <a:t>Marketing and sales force automation, contact and project management—these are the bread and butter features of a CRM </a:t>
            </a:r>
            <a:r>
              <a:rPr lang="en-US" sz="1100" dirty="0" smtClean="0">
                <a:cs typeface="Calibri"/>
              </a:rPr>
              <a:t>system</a:t>
            </a:r>
          </a:p>
          <a:p>
            <a:pPr marL="979169" marR="173355" indent="-228600">
              <a:lnSpc>
                <a:spcPct val="116399"/>
              </a:lnSpc>
              <a:buFont typeface="Wingdings"/>
              <a:buChar char=""/>
              <a:tabLst>
                <a:tab pos="979805" algn="l"/>
              </a:tabLst>
            </a:pPr>
            <a:r>
              <a:rPr lang="en-US" sz="1100" dirty="0">
                <a:cs typeface="Calibri"/>
              </a:rPr>
              <a:t>Streamlining and improving the sales process, building a sales pipeline, automating tasks, and analyzing your sales data will inevitably lead to one outcome—increased sales and sales productivity</a:t>
            </a:r>
            <a:endParaRPr sz="1000" dirty="0">
              <a:latin typeface="Calibri"/>
              <a:cs typeface="Calibri"/>
            </a:endParaRPr>
          </a:p>
          <a:p>
            <a:pPr marL="12700">
              <a:lnSpc>
                <a:spcPct val="100000"/>
              </a:lnSpc>
              <a:spcBef>
                <a:spcPts val="5"/>
              </a:spcBef>
            </a:pPr>
            <a:r>
              <a:rPr lang="en-US" sz="1100" b="1" spc="-5" dirty="0">
                <a:cs typeface="Calibri"/>
              </a:rPr>
              <a:t>VISA SLOTS BOOKING</a:t>
            </a:r>
            <a:endParaRPr sz="1100" dirty="0">
              <a:latin typeface="Calibri"/>
              <a:cs typeface="Calibri"/>
            </a:endParaRPr>
          </a:p>
          <a:p>
            <a:pPr>
              <a:lnSpc>
                <a:spcPct val="100000"/>
              </a:lnSpc>
              <a:spcBef>
                <a:spcPts val="25"/>
              </a:spcBef>
            </a:pPr>
            <a:endParaRPr sz="800" dirty="0">
              <a:latin typeface="Calibri"/>
              <a:cs typeface="Calibri"/>
            </a:endParaRPr>
          </a:p>
          <a:p>
            <a:pPr marL="1097915" marR="69215" lvl="1" indent="-229235">
              <a:lnSpc>
                <a:spcPct val="116500"/>
              </a:lnSpc>
              <a:spcBef>
                <a:spcPts val="5"/>
              </a:spcBef>
              <a:buFont typeface="Wingdings"/>
              <a:buChar char=""/>
              <a:tabLst>
                <a:tab pos="1097915" algn="l"/>
                <a:tab pos="1098550" algn="l"/>
              </a:tabLst>
            </a:pPr>
            <a:r>
              <a:rPr lang="en-US" sz="1100" spc="-5" dirty="0">
                <a:cs typeface="Calibri"/>
              </a:rPr>
              <a:t>Your passport </a:t>
            </a:r>
            <a:r>
              <a:rPr lang="en-US" sz="1100" spc="-5" dirty="0" smtClean="0">
                <a:cs typeface="Calibri"/>
              </a:rPr>
              <a:t>number</a:t>
            </a:r>
          </a:p>
          <a:p>
            <a:pPr marL="1097915" marR="69215" lvl="1" indent="-229235">
              <a:lnSpc>
                <a:spcPct val="116500"/>
              </a:lnSpc>
              <a:spcBef>
                <a:spcPts val="5"/>
              </a:spcBef>
              <a:buFont typeface="Wingdings"/>
              <a:buChar char=""/>
              <a:tabLst>
                <a:tab pos="1097915" algn="l"/>
                <a:tab pos="1098550" algn="l"/>
              </a:tabLst>
            </a:pPr>
            <a:r>
              <a:rPr lang="en-US" sz="1000" dirty="0">
                <a:cs typeface="Calibri"/>
              </a:rPr>
              <a:t>The date you paid your </a:t>
            </a:r>
            <a:r>
              <a:rPr lang="en-US" sz="1000" dirty="0" smtClean="0">
                <a:cs typeface="Calibri"/>
              </a:rPr>
              <a:t>fee</a:t>
            </a:r>
          </a:p>
          <a:p>
            <a:pPr marL="1097915" marR="69215" lvl="1" indent="-229235">
              <a:lnSpc>
                <a:spcPct val="116500"/>
              </a:lnSpc>
              <a:spcBef>
                <a:spcPts val="5"/>
              </a:spcBef>
              <a:buFont typeface="Wingdings"/>
              <a:buChar char=""/>
              <a:tabLst>
                <a:tab pos="1097915" algn="l"/>
                <a:tab pos="1098550" algn="l"/>
              </a:tabLst>
            </a:pPr>
            <a:r>
              <a:rPr lang="en-US" sz="1000" dirty="0">
                <a:cs typeface="Calibri"/>
              </a:rPr>
              <a:t>The ten (10) digit barcode number from your DS-160 confirmation </a:t>
            </a:r>
            <a:r>
              <a:rPr lang="en-US" sz="1000" dirty="0" smtClean="0">
                <a:cs typeface="Calibri"/>
              </a:rPr>
              <a:t>page</a:t>
            </a:r>
            <a:endParaRPr sz="1000" dirty="0">
              <a:latin typeface="Calibri"/>
              <a:cs typeface="Calibri"/>
            </a:endParaRPr>
          </a:p>
          <a:p>
            <a:pPr marL="12700">
              <a:lnSpc>
                <a:spcPct val="100000"/>
              </a:lnSpc>
            </a:pPr>
            <a:r>
              <a:rPr sz="1100" b="1" dirty="0">
                <a:latin typeface="Calibri"/>
                <a:cs typeface="Calibri"/>
              </a:rPr>
              <a:t>Future</a:t>
            </a:r>
            <a:r>
              <a:rPr sz="1100" b="1" spc="-50" dirty="0">
                <a:latin typeface="Calibri"/>
                <a:cs typeface="Calibri"/>
              </a:rPr>
              <a:t> </a:t>
            </a:r>
            <a:r>
              <a:rPr sz="1100" b="1" dirty="0">
                <a:latin typeface="Calibri"/>
                <a:cs typeface="Calibri"/>
              </a:rPr>
              <a:t>Scope</a:t>
            </a:r>
            <a:endParaRPr sz="1100" dirty="0">
              <a:latin typeface="Calibri"/>
              <a:cs typeface="Calibri"/>
            </a:endParaRPr>
          </a:p>
          <a:p>
            <a:pPr marL="1150619" marR="118110" indent="-171450">
              <a:lnSpc>
                <a:spcPct val="118200"/>
              </a:lnSpc>
              <a:spcBef>
                <a:spcPts val="985"/>
              </a:spcBef>
              <a:buFont typeface="Arial" panose="020B0604020202020204" pitchFamily="34" charset="0"/>
              <a:buChar char="•"/>
            </a:pPr>
            <a:r>
              <a:rPr lang="en-US" sz="1100" dirty="0">
                <a:cs typeface="Calibri"/>
              </a:rPr>
              <a:t>Install the extension</a:t>
            </a:r>
            <a:r>
              <a:rPr sz="1100" spc="-5" dirty="0" smtClean="0">
                <a:latin typeface="Calibri"/>
                <a:cs typeface="Calibri"/>
              </a:rPr>
              <a:t>.</a:t>
            </a:r>
            <a:endParaRPr sz="1100" dirty="0">
              <a:latin typeface="Calibri"/>
              <a:cs typeface="Calibri"/>
            </a:endParaRPr>
          </a:p>
          <a:p>
            <a:pPr marL="1150619" marR="585470" indent="-171450">
              <a:lnSpc>
                <a:spcPct val="116399"/>
              </a:lnSpc>
              <a:buFont typeface="Arial" panose="020B0604020202020204" pitchFamily="34" charset="0"/>
              <a:buChar char="•"/>
            </a:pPr>
            <a:r>
              <a:rPr sz="1100" dirty="0">
                <a:latin typeface="Calibri"/>
                <a:cs typeface="Calibri"/>
              </a:rPr>
              <a:t>In </a:t>
            </a:r>
            <a:r>
              <a:rPr sz="1100" spc="-5" dirty="0">
                <a:latin typeface="Calibri"/>
                <a:cs typeface="Calibri"/>
              </a:rPr>
              <a:t>case ofany </a:t>
            </a:r>
            <a:r>
              <a:rPr sz="1100" dirty="0">
                <a:latin typeface="Calibri"/>
                <a:cs typeface="Calibri"/>
              </a:rPr>
              <a:t>damages and </a:t>
            </a:r>
            <a:r>
              <a:rPr sz="1100" spc="-5" dirty="0">
                <a:latin typeface="Calibri"/>
                <a:cs typeface="Calibri"/>
              </a:rPr>
              <a:t>problem of </a:t>
            </a:r>
            <a:r>
              <a:rPr sz="1100" dirty="0">
                <a:latin typeface="Calibri"/>
                <a:cs typeface="Calibri"/>
              </a:rPr>
              <a:t>vehicle </a:t>
            </a:r>
            <a:r>
              <a:rPr sz="1100" spc="-5" dirty="0">
                <a:latin typeface="Calibri"/>
                <a:cs typeface="Calibri"/>
              </a:rPr>
              <a:t>that </a:t>
            </a:r>
            <a:r>
              <a:rPr sz="1100" spc="5" dirty="0">
                <a:latin typeface="Calibri"/>
                <a:cs typeface="Calibri"/>
              </a:rPr>
              <a:t>will </a:t>
            </a:r>
            <a:r>
              <a:rPr sz="1100" dirty="0">
                <a:latin typeface="Calibri"/>
                <a:cs typeface="Calibri"/>
              </a:rPr>
              <a:t>claim </a:t>
            </a:r>
            <a:r>
              <a:rPr sz="1100" spc="-5" dirty="0">
                <a:latin typeface="Calibri"/>
                <a:cs typeface="Calibri"/>
              </a:rPr>
              <a:t>by </a:t>
            </a:r>
            <a:r>
              <a:rPr sz="1100" dirty="0">
                <a:latin typeface="Calibri"/>
                <a:cs typeface="Calibri"/>
              </a:rPr>
              <a:t>parking </a:t>
            </a:r>
            <a:r>
              <a:rPr lang="en-US" sz="1100" dirty="0" smtClean="0">
                <a:latin typeface="Calibri"/>
                <a:cs typeface="Calibri"/>
              </a:rPr>
              <a:t>Go to</a:t>
            </a:r>
            <a:endParaRPr lang="en-US" sz="1100" dirty="0">
              <a:latin typeface="Calibri"/>
              <a:cs typeface="Calibri"/>
            </a:endParaRPr>
          </a:p>
          <a:p>
            <a:pPr marL="1150619" marR="585470" indent="-171450">
              <a:lnSpc>
                <a:spcPct val="116399"/>
              </a:lnSpc>
              <a:buFont typeface="Arial" panose="020B0604020202020204" pitchFamily="34" charset="0"/>
              <a:buChar char="•"/>
            </a:pPr>
            <a:r>
              <a:rPr lang="en-US" sz="1100" dirty="0">
                <a:cs typeface="Calibri"/>
              </a:rPr>
              <a:t>you can start from the login page, or else on the dashboard, click on Start to move to the search </a:t>
            </a:r>
            <a:r>
              <a:rPr lang="en-US" sz="1100" dirty="0" smtClean="0">
                <a:cs typeface="Calibri"/>
              </a:rPr>
              <a:t>page</a:t>
            </a:r>
          </a:p>
          <a:p>
            <a:pPr marL="1150619" marR="585470" indent="-171450">
              <a:lnSpc>
                <a:spcPct val="116399"/>
              </a:lnSpc>
              <a:buFont typeface="Arial" panose="020B0604020202020204" pitchFamily="34" charset="0"/>
              <a:buChar char="•"/>
            </a:pPr>
            <a:r>
              <a:rPr lang="en-US" sz="1100" dirty="0">
                <a:cs typeface="Calibri"/>
              </a:rPr>
              <a:t>This extension will automate the booking process. You can do it on the options page if you need some cities except for </a:t>
            </a:r>
            <a:r>
              <a:rPr lang="en-US" sz="1100" dirty="0" smtClean="0">
                <a:cs typeface="Calibri"/>
              </a:rPr>
              <a:t>booking.</a:t>
            </a:r>
            <a:endParaRPr sz="1100" dirty="0">
              <a:latin typeface="Calibri"/>
              <a:cs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TotalTime>
  <Words>505</Words>
  <Application>Microsoft Office PowerPoint</Application>
  <PresentationFormat>Custom</PresentationFormat>
  <Paragraphs>48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Wingdings</vt:lpstr>
      <vt:lpstr>Office Theme</vt:lpstr>
      <vt:lpstr>CRM APPLICATION THAT HELPS TO BOOK A VISA SLOT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 APPLICATION THAT HELPS TO BOOK A VISA SLOT</dc:title>
  <dc:creator>ELCOT</dc:creator>
  <cp:lastModifiedBy>JJ SERVICE</cp:lastModifiedBy>
  <cp:revision>11</cp:revision>
  <dcterms:created xsi:type="dcterms:W3CDTF">2023-04-22T17:14:40Z</dcterms:created>
  <dcterms:modified xsi:type="dcterms:W3CDTF">2023-04-23T07:34:35Z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2023-04-17T00:00:00Z</vt:filetime>
  </property>
  <property fmtid="{D5CDD505-2E9C-101B-9397-08002B2CF9AE}" pid="3" name="Creator">
    <vt:lpwstr>Microsoft® Word 2016</vt:lpwstr>
  </property>
  <property fmtid="{D5CDD505-2E9C-101B-9397-08002B2CF9AE}" pid="4" name="LastSaved">
    <vt:filetime>2023-04-22T00:00:00Z</vt:filetime>
  </property>
</Properties>
</file>